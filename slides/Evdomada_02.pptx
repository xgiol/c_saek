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371600" cy="137160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ΕΒΔΟΜΑΔΑ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Μεταβλητές, Βασικοί Τύποι Δεδομένων, Μορφοποιημένη Έξοδος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Πώς αποθηκεύουμε δεδομένα στη μνήμη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 — Αλγοριθμική και Δομές Δεδομένων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Ατζέντα Μαθήματος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02336" cy="4023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276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41732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είναι μια μεταβλητή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402336" cy="4023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505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24028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Κανόνες ονοματοδοσίας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273552"/>
            <a:ext cx="402336" cy="4023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73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06324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βασικοί τύποι δεδομένων: int, float, double, char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4096512"/>
            <a:ext cx="402336" cy="4023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96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88620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τύπος char και ο πίνακας ASCII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919472"/>
            <a:ext cx="402336" cy="4023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19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70916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Σταθερές: #define vs const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5742432"/>
            <a:ext cx="402336" cy="4023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742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553212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Μορφοποιημένη έξοδος με printf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Εβδομάδα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6510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είναι μια Μεταβλητή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2743200" cy="0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Ονομασμένη θέση μνήμης για αποθήκευση δεδομένων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μεταβλητή έχει έναν ΤΥΠΟ που καθορίζει:</a:t>
            </a:r>
            <a:endParaRPr lang="en-US" sz="1800" dirty="0"/>
          </a:p>
          <a:p>
            <a:pPr lvl="1" marL="508000" indent="-254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μέγεθος στη μνήμη</a:t>
            </a:r>
            <a:endParaRPr lang="en-US" sz="1800" dirty="0"/>
          </a:p>
          <a:p>
            <a:pPr lvl="1" marL="508000" indent="-254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εύρος τιμών που μπορεί να πάρει</a:t>
            </a:r>
            <a:endParaRPr lang="en-US" sz="1800" dirty="0"/>
          </a:p>
          <a:p>
            <a:pPr lvl="1" marL="508000" indent="-254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ποιες πράξεις επιτρέπονται πάνω της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Εβδομάδα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0" y="6510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Κανόνες Ονοματοδοσίας Μεταβλητών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2743200" cy="0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Γράμματα, ψηφία και κάτω παύλα (_) — τίποτα άλλο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ΠΡΕΠΕΙ να ξεκινούν με γράμμα ή _  (ποτέ με ψηφίο)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Case-sensitive: το average ≠ Average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επιτρέπονται δεσμευμένες λέξεις (int, float, return...)</a:t>
            </a:r>
            <a:endParaRPr lang="en-US" sz="1800" dirty="0"/>
          </a:p>
          <a:p>
            <a:pPr lvl="1" marL="508000" indent="-254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Καλή πρακτική: περιγραφικά ονόματα, π.χ. totalSum αντί για 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Εβδομάδα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0" y="6510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Βασικοί Τύποι Δεδομένων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Τύπος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Περιγραφή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Μέγεθος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Παράδειγμα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Ακέραιος αριθμός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x = 42;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Δεκαδικός, απλής ακρίβειας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 f = 3.14f;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Δεκαδικός, διπλής ακρίβειας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d = 3.14159;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Ένας χαρακτήρας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byte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 c = 'A';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Εβδομάδα 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675120" y="6510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Παράδειγμα: Δήλωση Μεταβλητών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6949440" cy="5166360"/>
          </a:xfrm>
          <a:prstGeom prst="roundRect">
            <a:avLst>
              <a:gd name="adj" fmla="val 1416"/>
            </a:avLst>
          </a:prstGeom>
          <a:solidFill>
            <a:srgbClr val="0F1B2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298448"/>
            <a:ext cx="146304" cy="146304"/>
          </a:xfrm>
          <a:prstGeom prst="ellipse">
            <a:avLst/>
          </a:prstGeom>
          <a:solidFill>
            <a:srgbClr val="E06B6B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1298448"/>
            <a:ext cx="146304" cy="146304"/>
          </a:xfrm>
          <a:prstGeom prst="ellipse">
            <a:avLst/>
          </a:prstGeom>
          <a:solidFill>
            <a:srgbClr val="E5C158"/>
          </a:solidFill>
          <a:ln/>
        </p:spPr>
      </p:sp>
      <p:sp>
        <p:nvSpPr>
          <p:cNvPr id="7" name="Shape 5"/>
          <p:cNvSpPr/>
          <p:nvPr/>
        </p:nvSpPr>
        <p:spPr>
          <a:xfrm>
            <a:off x="1289304" y="1298448"/>
            <a:ext cx="146304" cy="146304"/>
          </a:xfrm>
          <a:prstGeom prst="ellipse">
            <a:avLst/>
          </a:prstGeom>
          <a:solidFill>
            <a:srgbClr val="6BC46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27632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normal_integer = 25;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 small_integer = 100;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big_integer = 1234567890;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 int only_positive = 4000000000;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printf("int: %d\n", normal_integer);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printf("unsigned: %u\n", only_positive);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26680" y="1234440"/>
            <a:ext cx="3886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short: λιγότερη μνήμη, μικρότερο εύρος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long: περισσότερη μνήμη, μεγαλύτερο εύρος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unsigned: μόνο μη-αρνητικές τιμές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εύρος διπλασιάζεται προς τη θετική πλευρά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Εβδομάδα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6510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Τύπος char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2743200" cy="0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Στην πραγματικότητα είναι ένας μικρός ακέραιος (1 byte)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χαρακτήρας αντιστοιχεί σε αριθμό μέσω του πίνακα ASCII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'A' = 65,   'a' = 97,   '0' = 48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Σταθερά char: πάντα σε ΜΟΝΑ εισαγωγικά ('A')</a:t>
            </a:r>
            <a:endParaRPr lang="en-US" sz="1800" dirty="0"/>
          </a:p>
          <a:p>
            <a:pPr lvl="1" marL="508000" indent="-254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"A" (διπλά εισαγωγικά) είναι συμβολοσειρά, όχι char!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Εβδομάδα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0" y="6510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vs double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2743200" cy="0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float: απλής ακρίβειας, ~6-7 δεκαδικά ψηφία, 4 bytes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double: διπλής ακρίβειας, ~15-16 δεκαδικά ψηφία, 8 bytes</a:t>
            </a:r>
            <a:endParaRPr lang="en-US" sz="1800" dirty="0"/>
          </a:p>
          <a:p>
            <a:pPr lvl="1" marL="508000" indent="-254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Κανόνας για αρχάριους: στην αμφιβολία, χρησιμοποιήστε double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Εβδομάδα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0" y="6510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Σταθερές: #define vs const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349240" cy="5120640"/>
          </a:xfrm>
          <a:prstGeom prst="roundRect">
            <a:avLst>
              <a:gd name="adj" fmla="val 1071"/>
            </a:avLst>
          </a:prstGeom>
          <a:solidFill>
            <a:srgbClr val="E8EE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#define (προεπεξεργαστής)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Απλή αντικατάσταση κειμένου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έχει τύπο δεδομένων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καταλαμβάνει μνήμη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Χωρίς ερωτηματικό (;) στο τέλος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188720"/>
            <a:ext cx="5349240" cy="5120640"/>
          </a:xfrm>
          <a:prstGeom prst="roundRect">
            <a:avLst>
              <a:gd name="adj" fmla="val 1071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37160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(πραγματική μεταβλητή)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192024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Έχει ΤΥΠΟ δεδομένων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Ελέγχεται από τον compiler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Έχει εμβέλεια (scope)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ΤΕΡΜΑΤΙΖΕΤΑΙ με ερωτηματικό, όπως κάθε δήλωση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Εβδομάδα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6510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Μορφοποιημένη Έξοδος: Προσδιοριστές printf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Προσδιοριστής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Χρήση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Ακέραιος (int)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Δεκαδικός (float/double)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Χαρακτήρας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Συμβολοσειρά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%.2f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Δεκαδικός με 2 δεκαδικά ψηφία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%8.2f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Πλάτος 8 θέσεων, 2 δεκαδικά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Εβδομάδα 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675120" y="6510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Έλεγχος Πλάτους &amp; Στοίχισης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6949440" cy="5166360"/>
          </a:xfrm>
          <a:prstGeom prst="roundRect">
            <a:avLst>
              <a:gd name="adj" fmla="val 1416"/>
            </a:avLst>
          </a:prstGeom>
          <a:solidFill>
            <a:srgbClr val="0F1B2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298448"/>
            <a:ext cx="146304" cy="146304"/>
          </a:xfrm>
          <a:prstGeom prst="ellipse">
            <a:avLst/>
          </a:prstGeom>
          <a:solidFill>
            <a:srgbClr val="E06B6B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1298448"/>
            <a:ext cx="146304" cy="146304"/>
          </a:xfrm>
          <a:prstGeom prst="ellipse">
            <a:avLst/>
          </a:prstGeom>
          <a:solidFill>
            <a:srgbClr val="E5C158"/>
          </a:solidFill>
          <a:ln/>
        </p:spPr>
      </p:sp>
      <p:sp>
        <p:nvSpPr>
          <p:cNvPr id="7" name="Shape 5"/>
          <p:cNvSpPr/>
          <p:nvPr/>
        </p:nvSpPr>
        <p:spPr>
          <a:xfrm>
            <a:off x="1289304" y="1298448"/>
            <a:ext cx="146304" cy="146304"/>
          </a:xfrm>
          <a:prstGeom prst="ellipse">
            <a:avLst/>
          </a:prstGeom>
          <a:solidFill>
            <a:srgbClr val="6BC46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27632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printf("%5d\n", 123);    // "  123"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printf("%-5d\n", 123);   // "123  "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printf("%7.2f\n", 3.14159); // "   3.14"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printf("%-15s%8.2f\n", "Kafes", 4.0);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26680" y="1234440"/>
            <a:ext cx="3886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-: αριστερή στοίχιση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Αριθμός πριν το d/f: ελάχιστο πλάτος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 πριν το f: ακρίβεια δεκαδικών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Χρήσιμο για πίνακες τιμών με στοίχιση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Εβδομάδα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6510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Μια Πρώτη Ματιά στο Casting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2743200" cy="0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Ακέραια διαίρεση: 5 / 2 = 2  (ΟΧΙ 2.5!)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δεκαδικό αποτέλεσμα: (float) 5 / 2 = 2.5</a:t>
            </a:r>
            <a:endParaRPr lang="en-US" sz="1800" dirty="0"/>
          </a:p>
          <a:p>
            <a:pPr lvl="1" marL="508000" indent="-254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Θα εμβαθύνουμε στο casting στην Εβδομάδα 13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Εβδομάδα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0" y="6510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Ανακεφαλαίωση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515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400"/>
              </a:spcAft>
              <a:buSzPct val="100000"/>
              <a:buChar char="✓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μεταβλητή έχει όνομα, τύπο και τιμή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✓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Βασικοί τύποι: int, float, double, char (+unsigned/short/long)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✓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char είναι στην ουσία μικρός ακέραιος (κώδικας ASCII)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✓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#define για απλές αντικαταστάσεις, const για πραγματικές σταθερές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✓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printf μορφοποιεί την έξοδο με προσδιοριστές (%d, %f, %c, %s...)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562356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3315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56235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Εργαστήριο: exercises/week02_askiseis.md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Εβδομάδα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0" y="6510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2026-08-08T13:11:38Z</dcterms:created>
  <dcterms:modified xsi:type="dcterms:W3CDTF">2026-08-08T13:11:38Z</dcterms:modified>
</cp:coreProperties>
</file>